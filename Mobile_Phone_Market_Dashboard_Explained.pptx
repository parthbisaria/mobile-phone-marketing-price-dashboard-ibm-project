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57e8375-6daf-f6e9-d828-4e7b73ac424f}">
          <p14:sldIdLst>
            <p14:sldId id="256"/>
            <p14:sldId id="257"/>
            <p14:sldId id="258"/>
          </p14:sldIdLst>
        </p14:section>
        <p14:section name="Dashboard walkthrough" id="{be710e58-47a1-71b8-e197-820613144cd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rap-up" id="{ccbd7683-708c-3584-a4f9-8b69a257b04b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Mobile Phone Market Pricing dashboard I built in Power BI: what it contains, what each visual shows and how to read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answers four questions: which brands are priced highest, which segments and regions drive volume, how price and volume compare by region, and how customers rate phones.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uses seven fields: two product fields, two geography fields and three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page flows top to bottom: headline KPIs and the Segment slicer first, then ratings and volume, and finally brand prices, the country map and the regional price and volume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KPI cards cover total price, total units, average units and average customer rating. They all respond to the slicer.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bar chart ranks brands by price. The area chart plots price and units together by region so you can see where they diverge.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donut shows each segment’s share of volume. The line chart tracks volume by region with one line per segment.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pie chart shows average customer rating by region. Use the Average Customer Rating card as the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filled map colours countries by region and shows units sold on hover. Use the slicer to see where each segment sells.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use the dashboard, start with the Segment slicer and click any visual to cross-filter. Improvements: use averages for price, use a bar chart for ratings, and add price-band or launch-year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a pricing view, a volume view and a customer view in one page. Thank you.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722376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65836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Mobile Phone Market Pricing Dashboard  |  Power BI walkthrough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554480"/>
            <a:ext cx="7223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Mobile Phone Market Pricing Dashboard</a:t>
            </a:r>
            <a:endParaRPr lang="en-US" sz="4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4114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A Power BI walkthrough: what each visual shows and how to read it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321040" y="1005840"/>
            <a:ext cx="3383280" cy="3383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ero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965960"/>
            <a:ext cx="1463040" cy="1463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0241280" y="397764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Image 1" descr="Hero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4480560"/>
            <a:ext cx="731520" cy="73152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001000" y="448056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mage 2" descr="Hero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9377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Dashboard goal and key questions</a:t>
            </a:r>
            <a:endParaRPr lang="en-US" sz="3400" dirty="0"/>
          </a:p>
        </p:txBody>
      </p:sp>
      <p:sp>
        <p:nvSpPr>
          <p:cNvPr id="4" name="Goal card"/>
          <p:cNvSpPr/>
          <p:nvPr/>
        </p:nvSpPr>
        <p:spPr>
          <a:xfrm>
            <a:off x="548640" y="1463040"/>
            <a:ext cx="4754880" cy="4526280"/>
          </a:xfrm>
          <a:prstGeom prst="roundRect">
            <a:avLst>
              <a:gd name="adj" fmla="val 2020"/>
            </a:avLst>
          </a:prstGeom>
          <a:solidFill>
            <a:schemeClr val="accent1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Bulls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98882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DASHBOARD GOAL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154680"/>
            <a:ext cx="4114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Understand how the mobile phone market is priced and how it performs: which brands command higher prices, which segments and regions drive volume, and how satisfied customers are.</a:t>
            </a:r>
            <a:endParaRPr lang="en-US" sz="2000" dirty="0"/>
          </a:p>
        </p:txBody>
      </p:sp>
      <p:sp>
        <p:nvSpPr>
          <p:cNvPr id="9" name="Question 1"/>
          <p:cNvSpPr/>
          <p:nvPr/>
        </p:nvSpPr>
        <p:spPr>
          <a:xfrm>
            <a:off x="5577840" y="1463040"/>
            <a:ext cx="60624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58064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Ta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180594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0" y="1463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Which brands are priced highest?</a:t>
            </a:r>
            <a:endParaRPr lang="en-US" sz="1600" dirty="0"/>
          </a:p>
        </p:txBody>
      </p:sp>
      <p:sp>
        <p:nvSpPr>
          <p:cNvPr id="13" name="Question 2"/>
          <p:cNvSpPr/>
          <p:nvPr/>
        </p:nvSpPr>
        <p:spPr>
          <a:xfrm>
            <a:off x="5577840" y="2633472"/>
            <a:ext cx="60624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4" name="Shape 9"/>
          <p:cNvSpPr/>
          <p:nvPr/>
        </p:nvSpPr>
        <p:spPr>
          <a:xfrm>
            <a:off x="5806440" y="281635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Box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2976372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675120" y="263347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Which segments and regions drive sales volume?</a:t>
            </a:r>
            <a:endParaRPr lang="en-US" sz="1600" dirty="0"/>
          </a:p>
        </p:txBody>
      </p:sp>
      <p:sp>
        <p:nvSpPr>
          <p:cNvPr id="17" name="Question 3"/>
          <p:cNvSpPr/>
          <p:nvPr/>
        </p:nvSpPr>
        <p:spPr>
          <a:xfrm>
            <a:off x="5577840" y="3803904"/>
            <a:ext cx="60624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8" name="Shape 12"/>
          <p:cNvSpPr/>
          <p:nvPr/>
        </p:nvSpPr>
        <p:spPr>
          <a:xfrm>
            <a:off x="5806440" y="398678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mage 3" descr="ChartArea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4146804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675120" y="3803904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How do price and volume compare across regions?</a:t>
            </a:r>
            <a:endParaRPr lang="en-US" sz="1600" dirty="0"/>
          </a:p>
        </p:txBody>
      </p:sp>
      <p:sp>
        <p:nvSpPr>
          <p:cNvPr id="21" name="Question 4"/>
          <p:cNvSpPr/>
          <p:nvPr/>
        </p:nvSpPr>
        <p:spPr>
          <a:xfrm>
            <a:off x="5577840" y="4974336"/>
            <a:ext cx="6062472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22" name="Shape 15"/>
          <p:cNvSpPr/>
          <p:nvPr/>
        </p:nvSpPr>
        <p:spPr>
          <a:xfrm>
            <a:off x="5806440" y="515721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4" descr="Sta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5317236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675120" y="4974336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How do customers rate phones in each region?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7 fields drive the dashboard</a:t>
            </a:r>
            <a:endParaRPr lang="en-US" sz="3400" dirty="0"/>
          </a:p>
        </p:txBody>
      </p:sp>
      <p:sp>
        <p:nvSpPr>
          <p:cNvPr id="4" name="Fields Product"/>
          <p:cNvSpPr/>
          <p:nvPr/>
        </p:nvSpPr>
        <p:spPr>
          <a:xfrm>
            <a:off x="548640" y="14630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Mobile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1168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Product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Brand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Segment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Categories used for grouping, series and the slicer.</a:t>
            </a:r>
            <a:endParaRPr lang="en-US" sz="1200" dirty="0"/>
          </a:p>
        </p:txBody>
      </p:sp>
      <p:sp>
        <p:nvSpPr>
          <p:cNvPr id="10" name="Fields Geography"/>
          <p:cNvSpPr/>
          <p:nvPr/>
        </p:nvSpPr>
        <p:spPr>
          <a:xfrm>
            <a:off x="4334256" y="14630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4654296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GlobeAsia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896" y="20116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54296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Geography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4654296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Region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Country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4654296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Locations used on charts and the country map.</a:t>
            </a:r>
            <a:endParaRPr lang="en-US" sz="1200" dirty="0"/>
          </a:p>
        </p:txBody>
      </p:sp>
      <p:sp>
        <p:nvSpPr>
          <p:cNvPr id="16" name="Fields Measures"/>
          <p:cNvSpPr/>
          <p:nvPr/>
        </p:nvSpPr>
        <p:spPr>
          <a:xfrm>
            <a:off x="8119872" y="14630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8439912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hartBa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0116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439912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Measures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8439912" y="34747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Avg Price (USD)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Units Sold (thousands)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Customer Rating (out of 5)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439912" y="5120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Numbers aggregated with Sum or Average.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Dashboard layout at a glance</a:t>
            </a:r>
            <a:endParaRPr lang="en-US" sz="3400" dirty="0"/>
          </a:p>
        </p:txBody>
      </p:sp>
      <p:sp>
        <p:nvSpPr>
          <p:cNvPr id="4" name="Page canvas"/>
          <p:cNvSpPr/>
          <p:nvPr/>
        </p:nvSpPr>
        <p:spPr>
          <a:xfrm>
            <a:off x="548640" y="1463040"/>
            <a:ext cx="7315200" cy="4114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Block MOBILE PHONE MARKET PRICING DASHBOARD"/>
          <p:cNvSpPr/>
          <p:nvPr/>
        </p:nvSpPr>
        <p:spPr>
          <a:xfrm>
            <a:off x="609600" y="1485900"/>
            <a:ext cx="5779770" cy="38481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09600" y="1485900"/>
            <a:ext cx="5779770" cy="3848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MOBILE PHONE MARKET PRICING DASHBOARD</a:t>
            </a:r>
            <a:endParaRPr lang="en-US" sz="1000" dirty="0"/>
          </a:p>
        </p:txBody>
      </p:sp>
      <p:sp>
        <p:nvSpPr>
          <p:cNvPr id="7" name="Block Total Price"/>
          <p:cNvSpPr/>
          <p:nvPr/>
        </p:nvSpPr>
        <p:spPr>
          <a:xfrm>
            <a:off x="697230" y="2072640"/>
            <a:ext cx="925830" cy="4953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97230" y="2072640"/>
            <a:ext cx="925830" cy="4953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Total Price</a:t>
            </a:r>
            <a:endParaRPr lang="en-US" sz="1000" dirty="0"/>
          </a:p>
        </p:txBody>
      </p:sp>
      <p:sp>
        <p:nvSpPr>
          <p:cNvPr id="9" name="Block Total Units"/>
          <p:cNvSpPr/>
          <p:nvPr/>
        </p:nvSpPr>
        <p:spPr>
          <a:xfrm>
            <a:off x="1809750" y="2072640"/>
            <a:ext cx="956310" cy="4953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09750" y="2072640"/>
            <a:ext cx="956310" cy="4953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Total Units</a:t>
            </a:r>
            <a:endParaRPr lang="en-US" sz="1000" dirty="0"/>
          </a:p>
        </p:txBody>
      </p:sp>
      <p:sp>
        <p:nvSpPr>
          <p:cNvPr id="11" name="Block Avg Units"/>
          <p:cNvSpPr/>
          <p:nvPr/>
        </p:nvSpPr>
        <p:spPr>
          <a:xfrm>
            <a:off x="2922270" y="2072640"/>
            <a:ext cx="1154430" cy="4953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922270" y="2072640"/>
            <a:ext cx="1154430" cy="4953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Avg Units</a:t>
            </a:r>
            <a:endParaRPr lang="en-US" sz="1000" dirty="0"/>
          </a:p>
        </p:txBody>
      </p:sp>
      <p:sp>
        <p:nvSpPr>
          <p:cNvPr id="13" name="Block Avg Rating"/>
          <p:cNvSpPr/>
          <p:nvPr/>
        </p:nvSpPr>
        <p:spPr>
          <a:xfrm>
            <a:off x="4225290" y="2072640"/>
            <a:ext cx="1123950" cy="4953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25290" y="2072640"/>
            <a:ext cx="1123950" cy="4953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15" name="Block Slicer: Segment"/>
          <p:cNvSpPr/>
          <p:nvPr/>
        </p:nvSpPr>
        <p:spPr>
          <a:xfrm>
            <a:off x="5513070" y="2004060"/>
            <a:ext cx="2198370" cy="64389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513070" y="2004060"/>
            <a:ext cx="2198370" cy="64389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Slicer: Segment</a:t>
            </a:r>
            <a:endParaRPr lang="en-US" sz="1000" dirty="0"/>
          </a:p>
        </p:txBody>
      </p:sp>
      <p:sp>
        <p:nvSpPr>
          <p:cNvPr id="17" name="Block Avg Rating by Region"/>
          <p:cNvSpPr/>
          <p:nvPr/>
        </p:nvSpPr>
        <p:spPr>
          <a:xfrm>
            <a:off x="697230" y="2804160"/>
            <a:ext cx="1569720" cy="10591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97230" y="2804160"/>
            <a:ext cx="1569720" cy="10591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Avg Rating by Region</a:t>
            </a:r>
            <a:endParaRPr lang="en-US" sz="1000" dirty="0"/>
          </a:p>
        </p:txBody>
      </p:sp>
      <p:sp>
        <p:nvSpPr>
          <p:cNvPr id="19" name="Block Units by Segment"/>
          <p:cNvSpPr/>
          <p:nvPr/>
        </p:nvSpPr>
        <p:spPr>
          <a:xfrm>
            <a:off x="2423160" y="2804160"/>
            <a:ext cx="1649730" cy="10591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423160" y="2804160"/>
            <a:ext cx="1649730" cy="10591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Units by Segment</a:t>
            </a:r>
            <a:endParaRPr lang="en-US" sz="1000" dirty="0"/>
          </a:p>
        </p:txBody>
      </p:sp>
      <p:sp>
        <p:nvSpPr>
          <p:cNvPr id="21" name="Block Units Sold by Region and Segment"/>
          <p:cNvSpPr/>
          <p:nvPr/>
        </p:nvSpPr>
        <p:spPr>
          <a:xfrm>
            <a:off x="4225290" y="2804160"/>
            <a:ext cx="3482340" cy="10591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225290" y="2804160"/>
            <a:ext cx="3482340" cy="10591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Units Sold by Region and Segment</a:t>
            </a:r>
            <a:endParaRPr lang="en-US" sz="1000" dirty="0"/>
          </a:p>
        </p:txBody>
      </p:sp>
      <p:sp>
        <p:nvSpPr>
          <p:cNvPr id="23" name="Block Avg Price by Brand"/>
          <p:cNvSpPr/>
          <p:nvPr/>
        </p:nvSpPr>
        <p:spPr>
          <a:xfrm>
            <a:off x="697230" y="4042410"/>
            <a:ext cx="2449830" cy="137541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97230" y="4042410"/>
            <a:ext cx="2449830" cy="1375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Avg Price by Brand</a:t>
            </a:r>
            <a:endParaRPr lang="en-US" sz="1000" dirty="0"/>
          </a:p>
        </p:txBody>
      </p:sp>
      <p:sp>
        <p:nvSpPr>
          <p:cNvPr id="25" name="Block Country Map by Region"/>
          <p:cNvSpPr/>
          <p:nvPr/>
        </p:nvSpPr>
        <p:spPr>
          <a:xfrm>
            <a:off x="3261360" y="4042410"/>
            <a:ext cx="2731770" cy="137541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261360" y="4042410"/>
            <a:ext cx="2731770" cy="137541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Country Map by Region</a:t>
            </a:r>
            <a:endParaRPr lang="en-US" sz="1000" dirty="0"/>
          </a:p>
        </p:txBody>
      </p:sp>
      <p:sp>
        <p:nvSpPr>
          <p:cNvPr id="27" name="Block Price and Units by Region"/>
          <p:cNvSpPr/>
          <p:nvPr/>
        </p:nvSpPr>
        <p:spPr>
          <a:xfrm>
            <a:off x="6092190" y="4042410"/>
            <a:ext cx="1695450" cy="13639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092190" y="4042410"/>
            <a:ext cx="1695450" cy="13639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Price and Units by Region</a:t>
            </a:r>
            <a:endParaRPr lang="en-US" sz="1000" dirty="0"/>
          </a:p>
        </p:txBody>
      </p:sp>
      <p:sp>
        <p:nvSpPr>
          <p:cNvPr id="29" name="Legend Title"/>
          <p:cNvSpPr/>
          <p:nvPr/>
        </p:nvSpPr>
        <p:spPr>
          <a:xfrm>
            <a:off x="8321040" y="1508760"/>
            <a:ext cx="219456" cy="21945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8641080" y="1490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Title</a:t>
            </a:r>
            <a:endParaRPr lang="en-US" sz="1200" dirty="0"/>
          </a:p>
        </p:txBody>
      </p:sp>
      <p:sp>
        <p:nvSpPr>
          <p:cNvPr id="31" name="Legend KPI card"/>
          <p:cNvSpPr/>
          <p:nvPr/>
        </p:nvSpPr>
        <p:spPr>
          <a:xfrm>
            <a:off x="10012680" y="1508760"/>
            <a:ext cx="219456" cy="21945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332720" y="1490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KPI card</a:t>
            </a:r>
            <a:endParaRPr lang="en-US" sz="1200" dirty="0"/>
          </a:p>
        </p:txBody>
      </p:sp>
      <p:sp>
        <p:nvSpPr>
          <p:cNvPr id="33" name="Legend Chart"/>
          <p:cNvSpPr/>
          <p:nvPr/>
        </p:nvSpPr>
        <p:spPr>
          <a:xfrm>
            <a:off x="8321040" y="1874520"/>
            <a:ext cx="219456" cy="21945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8641080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Chart</a:t>
            </a:r>
            <a:endParaRPr lang="en-US" sz="1200" dirty="0"/>
          </a:p>
        </p:txBody>
      </p:sp>
      <p:sp>
        <p:nvSpPr>
          <p:cNvPr id="35" name="Legend Map"/>
          <p:cNvSpPr/>
          <p:nvPr/>
        </p:nvSpPr>
        <p:spPr>
          <a:xfrm>
            <a:off x="10012680" y="1874520"/>
            <a:ext cx="219456" cy="219456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10332720" y="18562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Map</a:t>
            </a:r>
            <a:endParaRPr lang="en-US" sz="1200" dirty="0"/>
          </a:p>
        </p:txBody>
      </p:sp>
      <p:sp>
        <p:nvSpPr>
          <p:cNvPr id="37" name="Legend Slicer"/>
          <p:cNvSpPr/>
          <p:nvPr/>
        </p:nvSpPr>
        <p:spPr>
          <a:xfrm>
            <a:off x="8321040" y="2240280"/>
            <a:ext cx="219456" cy="219456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8641080" y="22219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Slicer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321040" y="2788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3210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8915400" y="2770632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Headline KPIs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Top row: price, volume and rating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2104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83210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8915400" y="3730752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Distribution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Middle band: ratings, segments, regions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83210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3210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8915400" y="4690872"/>
            <a:ext cx="2724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Brands and geography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Bottom row: brand prices, map, regions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Four KPI cards set the headline</a:t>
            </a:r>
            <a:endParaRPr lang="en-US" sz="3400" dirty="0"/>
          </a:p>
        </p:txBody>
      </p:sp>
      <p:sp>
        <p:nvSpPr>
          <p:cNvPr id="4" name="KPI Total Avg Price (USD)"/>
          <p:cNvSpPr/>
          <p:nvPr/>
        </p:nvSpPr>
        <p:spPr>
          <a:xfrm>
            <a:off x="548640" y="1463040"/>
            <a:ext cx="537667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ollarSig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7830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Total Avg Price (USD)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1783080" y="2139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SUM  |  AVG PRICE (USD)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78308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Headline price indicator for the selection. Updates with the Segment slicer and chart clicks.</a:t>
            </a:r>
            <a:endParaRPr lang="en-US" sz="1600" dirty="0"/>
          </a:p>
        </p:txBody>
      </p:sp>
      <p:sp>
        <p:nvSpPr>
          <p:cNvPr id="10" name="KPI Total Units Sold"/>
          <p:cNvSpPr/>
          <p:nvPr/>
        </p:nvSpPr>
        <p:spPr>
          <a:xfrm>
            <a:off x="6263640" y="1463040"/>
            <a:ext cx="537667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65379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Box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202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9808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Total Units Sold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7498080" y="2139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SUM  |  UNITS SOLD (THOUSANDS)</a:t>
            </a:r>
            <a:endParaRPr lang="en-US" sz="1100" dirty="0"/>
          </a:p>
        </p:txBody>
      </p:sp>
      <p:sp>
        <p:nvSpPr>
          <p:cNvPr id="15" name="Text 10"/>
          <p:cNvSpPr txBox="1"/>
          <p:nvPr/>
        </p:nvSpPr>
        <p:spPr>
          <a:xfrm>
            <a:off x="7498080" y="246888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Overall sales volume, in thousands of units, for everything currently in view.</a:t>
            </a:r>
            <a:endParaRPr lang="en-US" sz="1600" dirty="0"/>
          </a:p>
        </p:txBody>
      </p:sp>
      <p:sp>
        <p:nvSpPr>
          <p:cNvPr id="16" name="KPI Average Units Sold"/>
          <p:cNvSpPr/>
          <p:nvPr/>
        </p:nvSpPr>
        <p:spPr>
          <a:xfrm>
            <a:off x="548640" y="3840480"/>
            <a:ext cx="537667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7" name="Shape 12"/>
          <p:cNvSpPr/>
          <p:nvPr/>
        </p:nvSpPr>
        <p:spPr>
          <a:xfrm>
            <a:off x="822960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ChartLin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976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Average Units Sold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1783080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AVERAGE  |  UNITS SOLD (THOUSANDS)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783080" y="4846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Typical volume per record. Helps judge whether a selection is above or below normal.</a:t>
            </a:r>
            <a:endParaRPr lang="en-US" sz="1600" dirty="0"/>
          </a:p>
        </p:txBody>
      </p:sp>
      <p:sp>
        <p:nvSpPr>
          <p:cNvPr id="22" name="KPI Average Customer Rating"/>
          <p:cNvSpPr/>
          <p:nvPr/>
        </p:nvSpPr>
        <p:spPr>
          <a:xfrm>
            <a:off x="6263640" y="3840480"/>
            <a:ext cx="537667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3" name="Shape 17"/>
          <p:cNvSpPr/>
          <p:nvPr/>
        </p:nvSpPr>
        <p:spPr>
          <a:xfrm>
            <a:off x="6537960" y="4114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Sta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29768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98080" y="4114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Average Customer Rating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7498080" y="45171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5"/>
                </a:solidFill>
              </a:rPr>
              <a:t>AVERAGE  |  RATING (OUT OF 5)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498080" y="48463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Overall satisfaction benchmark that regional ratings can be compared against.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Pricing by brand and region</a:t>
            </a:r>
            <a:endParaRPr lang="en-US" sz="3400" dirty="0"/>
          </a:p>
        </p:txBody>
      </p:sp>
      <p:sp>
        <p:nvSpPr>
          <p:cNvPr id="4" name="Card Avg Price by Brand"/>
          <p:cNvSpPr/>
          <p:nvPr/>
        </p:nvSpPr>
        <p:spPr>
          <a:xfrm>
            <a:off x="548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rtB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BAR CHART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691640" y="19659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Avg Price by Brand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Brand (axis), Avg Price (USD) (sum)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3075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price level of each brand, sorted from highest to lowest.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0974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longest bar is the most premium-priced brand. Click a bar to filter the page to that brand.</a:t>
            </a:r>
            <a:endParaRPr lang="en-US" sz="1100" dirty="0"/>
          </a:p>
        </p:txBody>
      </p:sp>
      <p:sp>
        <p:nvSpPr>
          <p:cNvPr id="12" name="Card Price and Units by Region"/>
          <p:cNvSpPr/>
          <p:nvPr/>
        </p:nvSpPr>
        <p:spPr>
          <a:xfrm>
            <a:off x="6263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6537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ChartArea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19088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6640" y="17373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AREA CHART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19659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Price and Units by Region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26517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Region (axis), Avg Price (USD) and Units Sold (thousands) (sums)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73075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Price and volume plotted together for every region.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480974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Where the two areas diverge, price and volume tell different stories for that region.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Sales volume by segment and region</a:t>
            </a:r>
            <a:endParaRPr lang="en-US" sz="3400" dirty="0"/>
          </a:p>
        </p:txBody>
      </p:sp>
      <p:sp>
        <p:nvSpPr>
          <p:cNvPr id="4" name="Card Units Sold by Segment"/>
          <p:cNvSpPr/>
          <p:nvPr/>
        </p:nvSpPr>
        <p:spPr>
          <a:xfrm>
            <a:off x="548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ChartPi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DONUT CHART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691640" y="19659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Units Sold by Segment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Segment (slices), Units Sold (thousands) (sum)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3075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Each segment’s share of total sales volume.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0974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largest slice is the volume leader. Click a slice to filter the page to that segment.</a:t>
            </a:r>
            <a:endParaRPr lang="en-US" sz="1100" dirty="0"/>
          </a:p>
        </p:txBody>
      </p:sp>
      <p:sp>
        <p:nvSpPr>
          <p:cNvPr id="12" name="Card Units Sold by Region and Segment"/>
          <p:cNvSpPr/>
          <p:nvPr/>
        </p:nvSpPr>
        <p:spPr>
          <a:xfrm>
            <a:off x="6263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6537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ChartLi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10" y="190881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6640" y="1737360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LINE CHART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7406640" y="1965960"/>
            <a:ext cx="3959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Units Sold by Region and Segment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2651760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Region (axis), Segment (one line each), Units Sold (sum)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730752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One line per segment tracking volume across regions.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4809744"/>
            <a:ext cx="4828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Peaks show where a segment sells most. Crossing lines show where leadership changes.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Customer satisfaction by region</a:t>
            </a:r>
            <a:endParaRPr lang="en-US" sz="3400" dirty="0"/>
          </a:p>
        </p:txBody>
      </p:sp>
      <p:sp>
        <p:nvSpPr>
          <p:cNvPr id="4" name="Card Avg Customer Rating by Region"/>
          <p:cNvSpPr/>
          <p:nvPr/>
        </p:nvSpPr>
        <p:spPr>
          <a:xfrm>
            <a:off x="548640" y="1463040"/>
            <a:ext cx="676656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Sta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PIE CHART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691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Avg Customer Rating by Region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Region (slices), Customer Rating (out of 5) (average)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3075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average rating given to phones in each region.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09744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Compare slice sizes to see which regions rate phones highest. Use the Avg Rating KPI as the overall benchmark.</a:t>
            </a:r>
            <a:endParaRPr lang="en-US" sz="1100" dirty="0"/>
          </a:p>
        </p:txBody>
      </p:sp>
      <p:sp>
        <p:nvSpPr>
          <p:cNvPr id="12" name="Why it matters"/>
          <p:cNvSpPr/>
          <p:nvPr/>
        </p:nvSpPr>
        <p:spPr>
          <a:xfrm>
            <a:off x="7589520" y="1463040"/>
            <a:ext cx="4050792" cy="4526280"/>
          </a:xfrm>
          <a:prstGeom prst="roundRect">
            <a:avLst>
              <a:gd name="adj" fmla="val 2257"/>
            </a:avLst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2286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2240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Ratings show how well phones meet expectations in each market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3474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909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54964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Compare with price: do costlier regions rate higher?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909560" y="4663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9095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54964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Use the Segment slicer to see satisfaction per segment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phones sell: country map</a:t>
            </a:r>
            <a:endParaRPr lang="en-US" sz="3400" dirty="0"/>
          </a:p>
        </p:txBody>
      </p:sp>
      <p:sp>
        <p:nvSpPr>
          <p:cNvPr id="4" name="Card Country Map by Region"/>
          <p:cNvSpPr/>
          <p:nvPr/>
        </p:nvSpPr>
        <p:spPr>
          <a:xfrm>
            <a:off x="548640" y="1463040"/>
            <a:ext cx="6766560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MapMarked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737360"/>
            <a:ext cx="5349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FILLED MAP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691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Country Map by Region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517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FIELDS USED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Country (location), Region (colour), Units Sold (thousands) (tooltip)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730752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WHAT IT SHOWS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Countries shaded by region, with units sold on hover.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809744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HOW TO READ IT</a:t>
            </a:r>
            <a:endParaRPr lang="en-US" sz="11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Colour groups countries by region. Hover a country to read its volume, and click it to filter the page.</a:t>
            </a:r>
            <a:endParaRPr lang="en-US" sz="1100" dirty="0"/>
          </a:p>
        </p:txBody>
      </p:sp>
      <p:sp>
        <p:nvSpPr>
          <p:cNvPr id="12" name="Why it matters"/>
          <p:cNvSpPr/>
          <p:nvPr/>
        </p:nvSpPr>
        <p:spPr>
          <a:xfrm>
            <a:off x="7589520" y="1463040"/>
            <a:ext cx="4050792" cy="4526280"/>
          </a:xfrm>
          <a:prstGeom prst="roundRect">
            <a:avLst>
              <a:gd name="adj" fmla="val 2257"/>
            </a:avLst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90956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09560" y="2286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095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8549640" y="2240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Colour groups countries by their region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7909560" y="34747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90956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549640" y="34290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Hover a country to read its units sold (thousands)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909560" y="46634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9095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549640" y="4617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Pick a segment in the slicer to see where it sells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Using the dashboard and next steps</a:t>
            </a:r>
            <a:endParaRPr lang="en-US" sz="3400" dirty="0"/>
          </a:p>
        </p:txBody>
      </p:sp>
      <p:sp>
        <p:nvSpPr>
          <p:cNvPr id="4" name="How to use"/>
          <p:cNvSpPr/>
          <p:nvPr/>
        </p:nvSpPr>
        <p:spPr>
          <a:xfrm>
            <a:off x="548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MousePoint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4592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How to use it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697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Pick one or more Segments in the slicer. Every visual refreshes to match.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508760" y="37490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Click a bar, slice, line or country to cross-filter the rest of the page.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296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508760" y="4800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Click the same item again to clear the selection and return to the full view.</a:t>
            </a:r>
            <a:endParaRPr lang="en-US" sz="1600" dirty="0"/>
          </a:p>
        </p:txBody>
      </p:sp>
      <p:sp>
        <p:nvSpPr>
          <p:cNvPr id="17" name="Improvements"/>
          <p:cNvSpPr/>
          <p:nvPr/>
        </p:nvSpPr>
        <p:spPr>
          <a:xfrm>
            <a:off x="6263640" y="1463040"/>
            <a:ext cx="5376672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653796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1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189738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60920" y="1737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Improvements and future scope</a:t>
            </a:r>
            <a:endParaRPr lang="en-US" sz="2200" dirty="0"/>
          </a:p>
        </p:txBody>
      </p:sp>
      <p:sp>
        <p:nvSpPr>
          <p:cNvPr id="21" name="Shape 16"/>
          <p:cNvSpPr/>
          <p:nvPr/>
        </p:nvSpPr>
        <p:spPr>
          <a:xfrm>
            <a:off x="6537960" y="278892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132320" y="269748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Switch the price visuals from Sum to Average. Summing average prices is not meaningful.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537960" y="384048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132320" y="374904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Show rating by region as a bar chart, since averages do not add up to a whole pie.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537960" y="48920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132320" y="4800600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Add price-band or launch-year fields for deeper trend analysis.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548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What this dashboard delivers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Ta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3152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Pricing view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731520" y="3703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Which brands and regions sit at the premium or budget end.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48056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Box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402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4805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Volume view</a:t>
            </a:r>
            <a:endParaRPr lang="en-US" sz="2200" dirty="0"/>
          </a:p>
        </p:txBody>
      </p:sp>
      <p:sp>
        <p:nvSpPr>
          <p:cNvPr id="11" name="Text 6"/>
          <p:cNvSpPr txBox="1"/>
          <p:nvPr/>
        </p:nvSpPr>
        <p:spPr>
          <a:xfrm>
            <a:off x="4480560" y="3703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Units sold by segment, region and country.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229600" y="201168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Sta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24028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22960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Customer view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8229600" y="37033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Average ratings by region against an overall benchmark.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731520" y="5577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Thank you.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bile Market Dark">
  <a:themeElements>
    <a:clrScheme name="Mobile Market Dark">
      <a:dk1>
        <a:srgbClr val="1A1A1A"/>
      </a:dk1>
      <a:lt1>
        <a:srgbClr val="FFFFFF"/>
      </a:lt1>
      <a:dk2>
        <a:srgbClr val="1A1A1A"/>
      </a:dk2>
      <a:lt2>
        <a:srgbClr val="2B2B2B"/>
      </a:lt2>
      <a:accent1>
        <a:srgbClr val="2B7BD0"/>
      </a:accent1>
      <a:accent2>
        <a:srgbClr val="FF8A5C"/>
      </a:accent2>
      <a:accent3>
        <a:srgbClr val="5B6CF0"/>
      </a:accent3>
      <a:accent4>
        <a:srgbClr val="C77DFF"/>
      </a:accent4>
      <a:accent5>
        <a:srgbClr val="4DA6FF"/>
      </a:accent5>
      <a:accent6>
        <a:srgbClr val="9CA3AF"/>
      </a:accent6>
      <a:hlink>
        <a:srgbClr val="75B7FF"/>
      </a:hlink>
      <a:folHlink>
        <a:srgbClr val="B5A1FF"/>
      </a:folHlink>
    </a:clrScheme>
    <a:fontScheme name="Mobile Market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Phone Market Pricing Dashboard</dc:title>
  <dc:subject>PptxGenJS Presentation</dc:subject>
  <dc:creator>Dashboard walkthrough</dc:creator>
  <cp:lastModifiedBy>Dashboard walkthrough</cp:lastModifiedBy>
  <cp:revision>1</cp:revision>
  <dcterms:created xsi:type="dcterms:W3CDTF">2026-10-14T05:14:54Z</dcterms:created>
  <dcterms:modified xsi:type="dcterms:W3CDTF">2026-10-14T05:14:54Z</dcterms:modified>
</cp:coreProperties>
</file>